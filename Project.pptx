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>
        <p:scale>
          <a:sx n="145" d="100"/>
          <a:sy n="145" d="100"/>
        </p:scale>
        <p:origin x="-168" y="-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0690-6482-46BF-AB9E-F3E59A555573}" type="datetimeFigureOut">
              <a:rPr lang="en-IN" smtClean="0"/>
              <a:t>06/12/24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A16C-3E29-48A3-9ED8-DDE4E1E1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965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0690-6482-46BF-AB9E-F3E59A555573}" type="datetimeFigureOut">
              <a:rPr lang="en-IN" smtClean="0"/>
              <a:t>06/12/24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A16C-3E29-48A3-9ED8-DDE4E1E1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267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0690-6482-46BF-AB9E-F3E59A555573}" type="datetimeFigureOut">
              <a:rPr lang="en-IN" smtClean="0"/>
              <a:t>06/12/24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A16C-3E29-48A3-9ED8-DDE4E1E1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7356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0690-6482-46BF-AB9E-F3E59A555573}" type="datetimeFigureOut">
              <a:rPr lang="en-IN" smtClean="0"/>
              <a:t>06/12/24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A16C-3E29-48A3-9ED8-DDE4E1E1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111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0690-6482-46BF-AB9E-F3E59A555573}" type="datetimeFigureOut">
              <a:rPr lang="en-IN" smtClean="0"/>
              <a:t>06/12/24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A16C-3E29-48A3-9ED8-DDE4E1E13712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590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0690-6482-46BF-AB9E-F3E59A555573}" type="datetimeFigureOut">
              <a:rPr lang="en-IN" smtClean="0"/>
              <a:t>06/12/24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A16C-3E29-48A3-9ED8-DDE4E1E1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90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0690-6482-46BF-AB9E-F3E59A555573}" type="datetimeFigureOut">
              <a:rPr lang="en-IN" smtClean="0"/>
              <a:t>06/12/24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A16C-3E29-48A3-9ED8-DDE4E1E1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111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0690-6482-46BF-AB9E-F3E59A555573}" type="datetimeFigureOut">
              <a:rPr lang="en-IN" smtClean="0"/>
              <a:t>06/12/24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A16C-3E29-48A3-9ED8-DDE4E1E1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423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98D0690-6482-46BF-AB9E-F3E59A555573}" type="datetimeFigureOut">
              <a:rPr lang="en-IN" smtClean="0"/>
              <a:t>06/12/24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A16C-3E29-48A3-9ED8-DDE4E1E1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51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0690-6482-46BF-AB9E-F3E59A555573}" type="datetimeFigureOut">
              <a:rPr lang="en-IN" smtClean="0"/>
              <a:t>06/12/24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A16C-3E29-48A3-9ED8-DDE4E1E1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137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D0690-6482-46BF-AB9E-F3E59A555573}" type="datetimeFigureOut">
              <a:rPr lang="en-IN" smtClean="0"/>
              <a:t>06/12/24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DA16C-3E29-48A3-9ED8-DDE4E1E1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080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98D0690-6482-46BF-AB9E-F3E59A555573}" type="datetimeFigureOut">
              <a:rPr lang="en-IN" smtClean="0"/>
              <a:t>06/12/24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8BDA16C-3E29-48A3-9ED8-DDE4E1E13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588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6E1F8-C976-94E9-E1AF-D08308205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8966" y="2308054"/>
            <a:ext cx="10594068" cy="1834980"/>
          </a:xfrm>
        </p:spPr>
        <p:txBody>
          <a:bodyPr>
            <a:normAutofit/>
          </a:bodyPr>
          <a:lstStyle/>
          <a:p>
            <a:r>
              <a:rPr lang="en-US" sz="40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Credit Card Fraud Detection 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E544F9-8773-B6DE-CD13-11B727406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026" y="5270915"/>
            <a:ext cx="7197726" cy="1405467"/>
          </a:xfrm>
        </p:spPr>
        <p:txBody>
          <a:bodyPr/>
          <a:lstStyle/>
          <a:p>
            <a:pPr algn="l"/>
            <a:r>
              <a:rPr lang="en-IN" dirty="0">
                <a:latin typeface="Abadi" panose="020B0604020104020204" pitchFamily="34" charset="0"/>
              </a:rPr>
              <a:t>Course Name: Algorithms for Data science</a:t>
            </a:r>
          </a:p>
          <a:p>
            <a:pPr algn="l"/>
            <a:r>
              <a:rPr lang="en-IN" dirty="0">
                <a:latin typeface="Abadi" panose="020B0604020104020204" pitchFamily="34" charset="0"/>
              </a:rPr>
              <a:t>Date: 12-06-2024</a:t>
            </a:r>
          </a:p>
          <a:p>
            <a:pPr algn="l"/>
            <a:endParaRPr lang="en-IN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064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FA3D0-8295-291D-E92D-070AF7AA7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E4B52-FD6E-0B1E-2085-B2C5D899B4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87" y="2693773"/>
            <a:ext cx="10131425" cy="3398108"/>
          </a:xfrm>
        </p:spPr>
        <p:txBody>
          <a:bodyPr>
            <a:normAutofit/>
          </a:bodyPr>
          <a:lstStyle/>
          <a:p>
            <a:r>
              <a:rPr lang="en-US" sz="2400" dirty="0"/>
              <a:t>Problem Statement and Data Overview</a:t>
            </a:r>
          </a:p>
          <a:p>
            <a:r>
              <a:rPr lang="en-US" sz="2400" dirty="0"/>
              <a:t>Central Tendency and Data Reduction</a:t>
            </a:r>
          </a:p>
          <a:p>
            <a:r>
              <a:rPr lang="en-US" sz="2400" dirty="0"/>
              <a:t>Descriptive Statistics and Visualizations</a:t>
            </a:r>
          </a:p>
          <a:p>
            <a:r>
              <a:rPr lang="en-US" sz="2400" dirty="0"/>
              <a:t>Machine Learning Models and Predictions</a:t>
            </a:r>
          </a:p>
          <a:p>
            <a:r>
              <a:rPr lang="en-US" sz="2400" dirty="0"/>
              <a:t>Insights, Challenges, and Future Work</a:t>
            </a:r>
          </a:p>
          <a:p>
            <a:r>
              <a:rPr lang="en-US" sz="2400" dirty="0"/>
              <a:t>Queries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49086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D8162-9D2E-A27B-D40D-FAF8BD858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228" y="616073"/>
            <a:ext cx="10212858" cy="1113874"/>
          </a:xfrm>
        </p:spPr>
        <p:txBody>
          <a:bodyPr/>
          <a:lstStyle/>
          <a:p>
            <a:r>
              <a:rPr lang="en-US" b="1" dirty="0"/>
              <a:t>Problem Statement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02D7A-AFDE-DA70-64D0-65CEB4EC5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401" y="2359248"/>
            <a:ext cx="11069197" cy="4216312"/>
          </a:xfrm>
        </p:spPr>
        <p:txBody>
          <a:bodyPr>
            <a:noAutofit/>
          </a:bodyPr>
          <a:lstStyle/>
          <a:p>
            <a:r>
              <a:rPr lang="en-US" sz="2400" dirty="0"/>
              <a:t>We are solving the problem of detecting fraudulent credit card transactions using Data science and machine learning techniques.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Fraudulent transactions are a major concern for financial institutions and identifying them quickly can prevent significant losses.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The goal of this project is to build a predictive model that classifies transactions as either fraudulent or legitimate based on features such as transaction amount, time, and anonymized features.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862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C61DE-BAB8-94FC-EEAC-2E71609F8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8F1C5-F5C6-7B27-32C4-867EE51A8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3492" y="745524"/>
            <a:ext cx="7729728" cy="1188720"/>
          </a:xfrm>
        </p:spPr>
        <p:txBody>
          <a:bodyPr/>
          <a:lstStyle/>
          <a:p>
            <a:r>
              <a:rPr lang="en-IN" b="1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1F080-FB5F-2A5F-B167-9736126E7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87" y="2510776"/>
            <a:ext cx="10131425" cy="3614057"/>
          </a:xfrm>
        </p:spPr>
        <p:txBody>
          <a:bodyPr>
            <a:normAutofit fontScale="92500"/>
          </a:bodyPr>
          <a:lstStyle/>
          <a:p>
            <a:r>
              <a:rPr lang="en-US" sz="2400" b="1" dirty="0"/>
              <a:t>Dataset Name</a:t>
            </a:r>
            <a:r>
              <a:rPr lang="en-US" sz="2400" dirty="0"/>
              <a:t>: Credit Card Fraud Detection Dataset</a:t>
            </a:r>
          </a:p>
          <a:p>
            <a:r>
              <a:rPr lang="en-US" sz="2400" b="1" dirty="0"/>
              <a:t>Source</a:t>
            </a:r>
            <a:r>
              <a:rPr lang="en-US" sz="2400" dirty="0"/>
              <a:t>: Kaggle</a:t>
            </a:r>
          </a:p>
          <a:p>
            <a:r>
              <a:rPr lang="en-US" sz="2400" b="1" dirty="0"/>
              <a:t>Key Dataset Features</a:t>
            </a:r>
            <a:r>
              <a:rPr lang="en-US" sz="24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1" dirty="0"/>
              <a:t>Number of Rows (Records)</a:t>
            </a:r>
            <a:r>
              <a:rPr lang="en-US" sz="2200" dirty="0"/>
              <a:t>: 284,807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b="1" dirty="0"/>
              <a:t>Number of Columns (Features)</a:t>
            </a:r>
            <a:r>
              <a:rPr lang="en-US" sz="2200" dirty="0"/>
              <a:t>: 31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dirty="0"/>
              <a:t>Numerical Features (V1-V28)</a:t>
            </a:r>
            <a:r>
              <a:rPr lang="en-US" sz="2400" dirty="0"/>
              <a:t>: Principal component-transformed features.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b="1" dirty="0"/>
              <a:t>Time and Amount</a:t>
            </a:r>
            <a:r>
              <a:rPr lang="en-US" sz="2400" dirty="0"/>
              <a:t>: Transaction-specific data.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2400" b="1" dirty="0"/>
              <a:t>Class</a:t>
            </a:r>
            <a:r>
              <a:rPr lang="en-IN" sz="2400" dirty="0"/>
              <a:t>: Target variable (0 = Non-fraudulent, 1 = Fraudulent).</a:t>
            </a:r>
            <a:endParaRPr lang="en-US" sz="2400" dirty="0"/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34184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B751-4095-EA59-83BE-892827BA8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72440"/>
            <a:ext cx="7729728" cy="1188720"/>
          </a:xfrm>
        </p:spPr>
        <p:txBody>
          <a:bodyPr/>
          <a:lstStyle/>
          <a:p>
            <a:r>
              <a:rPr lang="en-IN" b="1" dirty="0"/>
              <a:t>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BFEA9-A48C-5C8E-0F77-275ABA9D9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77143"/>
            <a:ext cx="10131425" cy="36140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/>
              <a:t>Feature Descriptions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/>
              <a:t>Time</a:t>
            </a:r>
            <a:r>
              <a:rPr lang="en-US" sz="1800" dirty="0"/>
              <a:t>: Seconds elapsed between the transaction and the first transaction in the dataset.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/>
              <a:t>V1 to V28</a:t>
            </a:r>
            <a:r>
              <a:rPr lang="en-US" sz="1800" dirty="0"/>
              <a:t>: Principal components obtained via PCA (features are anonymized for privacy).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/>
              <a:t>Amount</a:t>
            </a:r>
            <a:r>
              <a:rPr lang="en-US" sz="1800" dirty="0"/>
              <a:t>: Transaction amount.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b="1" dirty="0"/>
              <a:t>Class</a:t>
            </a:r>
            <a:r>
              <a:rPr lang="en-US" sz="1800" dirty="0"/>
              <a:t>: Target variable indicating whether the transaction is fraudulent (1) or legitimate (0).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Dataset Highlights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Highly imbalanced, with fraudulent transactions accounting for approximately 0.17% of the data.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Anonymized features make it ideal for exploring predictive modeling techniques without domain bias.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Suitable for both exploratory analysis and machine learning tasks due to its large size and clear objective.</a:t>
            </a:r>
          </a:p>
        </p:txBody>
      </p:sp>
    </p:spTree>
    <p:extLst>
      <p:ext uri="{BB962C8B-B14F-4D97-AF65-F5344CB8AC3E}">
        <p14:creationId xmlns:p14="http://schemas.microsoft.com/office/powerpoint/2010/main" val="3259753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1F6E1-BE57-FFEE-2CA5-FE8C0600E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606346"/>
            <a:ext cx="7729728" cy="1188720"/>
          </a:xfrm>
        </p:spPr>
        <p:txBody>
          <a:bodyPr/>
          <a:lstStyle/>
          <a:p>
            <a:r>
              <a:rPr lang="en-IN" b="1" dirty="0"/>
              <a:t>Central Tendency &amp; Data Reduction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C02ABE-1496-C1CE-4B31-9EF3FCD6A9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2515" y="2004337"/>
            <a:ext cx="11146970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Central Tendency: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Mean</a:t>
            </a:r>
            <a:r>
              <a:rPr lang="en-US" dirty="0"/>
              <a:t>: We calculated the mean for features like transaction amount to understand the typical value for a transaction.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Median</a:t>
            </a:r>
            <a:r>
              <a:rPr lang="en-US" dirty="0"/>
              <a:t>: The median gives a better representation of the central value of the transaction amounts due to the skewed distribution of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b="1" dirty="0"/>
              <a:t>Mode</a:t>
            </a:r>
            <a:r>
              <a:rPr lang="en-US" dirty="0"/>
              <a:t>: We used the mode to determine the most frequent transaction amounts.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rial" panose="020B0604020202020204" pitchFamily="34" charset="0"/>
              </a:rPr>
              <a:t>Data Reduction: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latin typeface="Arial" panose="020B0604020202020204" pitchFamily="34" charset="0"/>
              </a:rPr>
              <a:t>T</a:t>
            </a:r>
            <a:r>
              <a:rPr lang="en-US" dirty="0"/>
              <a:t>o reduce the complexity of our dataset, we performed </a:t>
            </a:r>
            <a:r>
              <a:rPr lang="en-US" b="1" dirty="0"/>
              <a:t>Principal Component Analysis (PCA)</a:t>
            </a:r>
            <a:r>
              <a:rPr lang="en-US" dirty="0"/>
              <a:t> to reduce dimensionality and retain most of the variance.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PCA helped us capture the majority of the information with fewer components (2 components), improving model efficiency and performance by removing noise and redundant features.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dirty="0"/>
              <a:t>We also used </a:t>
            </a:r>
            <a:r>
              <a:rPr lang="en-US" b="1" dirty="0"/>
              <a:t>feature selection</a:t>
            </a:r>
            <a:r>
              <a:rPr lang="en-US" dirty="0"/>
              <a:t> to identify the most important features for fraud detection.</a:t>
            </a:r>
            <a:endParaRPr 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64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98136-8A59-9B6E-30E2-24116A0F6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Reduction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66250-9660-4AEE-3FFD-3FCDC925E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816" y="2502120"/>
            <a:ext cx="11096367" cy="3849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To make the dataset more efficient for modeling, dimensionality reduction was performed using </a:t>
            </a:r>
            <a:r>
              <a:rPr lang="en-US" sz="2400" b="1" dirty="0"/>
              <a:t>Principal Component Analysis (PCA)</a:t>
            </a:r>
            <a:r>
              <a:rPr lang="en-US" sz="2400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Before PCA</a:t>
            </a:r>
            <a:r>
              <a:rPr lang="en-US" sz="2400" dirty="0"/>
              <a:t>: 31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After PCA</a:t>
            </a:r>
            <a:r>
              <a:rPr lang="en-US" sz="2400" dirty="0"/>
              <a:t>: Reduced to </a:t>
            </a:r>
            <a:r>
              <a:rPr lang="en-US" sz="2400" b="1" dirty="0"/>
              <a:t>15 components</a:t>
            </a:r>
            <a:r>
              <a:rPr lang="en-US" sz="2400" dirty="0"/>
              <a:t>, explaining </a:t>
            </a:r>
            <a:r>
              <a:rPr lang="en-US" sz="2400" b="1" dirty="0"/>
              <a:t>98.5% of the variance</a:t>
            </a:r>
            <a:r>
              <a:rPr lang="en-US" sz="2400" dirty="0"/>
              <a:t> in the dataset.</a:t>
            </a:r>
          </a:p>
          <a:p>
            <a:pPr marL="0" indent="0">
              <a:buNone/>
            </a:pPr>
            <a:r>
              <a:rPr lang="en-US" sz="2400" dirty="0"/>
              <a:t>The reduction preserved key data characteristics while removing redundant features. The new components effectively summarize the data with minimal loss of information.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98094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ABC5C-66F6-7E7D-8D55-F7B78E0C2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Descriptive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5FDDB-33AE-9A7D-F520-3CFBDEDFB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049" y="2502119"/>
            <a:ext cx="10960443" cy="3787470"/>
          </a:xfrm>
        </p:spPr>
        <p:txBody>
          <a:bodyPr>
            <a:normAutofit/>
          </a:bodyPr>
          <a:lstStyle/>
          <a:p>
            <a:r>
              <a:rPr lang="en-US" sz="2400" dirty="0"/>
              <a:t>We calculated </a:t>
            </a:r>
            <a:r>
              <a:rPr lang="en-US" sz="2400" b="1" dirty="0"/>
              <a:t>variance, standard deviation, skewness, and kurtosis</a:t>
            </a:r>
            <a:r>
              <a:rPr lang="en-US" sz="2400" dirty="0"/>
              <a:t> to understand the spread and shape of our data.</a:t>
            </a:r>
          </a:p>
          <a:p>
            <a:r>
              <a:rPr lang="en-US" sz="2400" dirty="0"/>
              <a:t>High </a:t>
            </a:r>
            <a:r>
              <a:rPr lang="en-US" sz="2400" b="1" dirty="0"/>
              <a:t>variance</a:t>
            </a:r>
            <a:r>
              <a:rPr lang="en-US" sz="2400" dirty="0"/>
              <a:t> in features like the transaction amount suggests a broad range of transaction values.</a:t>
            </a:r>
          </a:p>
          <a:p>
            <a:r>
              <a:rPr lang="en-US" sz="2400" dirty="0"/>
              <a:t>The </a:t>
            </a:r>
            <a:r>
              <a:rPr lang="en-US" sz="2400" b="1" dirty="0"/>
              <a:t>skewness</a:t>
            </a:r>
            <a:r>
              <a:rPr lang="en-US" sz="2400" dirty="0"/>
              <a:t> indicates that most transactions are small, but there are a few large transactions, which could potentially represent fraudulent activity.</a:t>
            </a:r>
          </a:p>
          <a:p>
            <a:r>
              <a:rPr lang="en-US" sz="2400" dirty="0"/>
              <a:t>We also looked at the </a:t>
            </a:r>
            <a:r>
              <a:rPr lang="en-US" sz="2400" b="1" dirty="0"/>
              <a:t>kurtosis</a:t>
            </a:r>
            <a:r>
              <a:rPr lang="en-US" sz="2400" dirty="0"/>
              <a:t>, revealing whether the data had heavy tails (large outliers).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29784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01D7A-D17F-EA6E-ED83-5ABA595CE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Visualizations</a:t>
            </a:r>
            <a:r>
              <a:rPr lang="en-IN" dirty="0"/>
              <a:t> </a:t>
            </a:r>
          </a:p>
        </p:txBody>
      </p:sp>
      <p:pic>
        <p:nvPicPr>
          <p:cNvPr id="7" name="Content Placeholder 6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D8205F45-2346-38C8-060A-DCA5F5283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380" y="2693543"/>
            <a:ext cx="4978614" cy="310197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B39AAC-5485-67E7-214E-E72C9A901EA4}"/>
              </a:ext>
            </a:extLst>
          </p:cNvPr>
          <p:cNvSpPr txBox="1"/>
          <p:nvPr/>
        </p:nvSpPr>
        <p:spPr>
          <a:xfrm>
            <a:off x="228600" y="2598155"/>
            <a:ext cx="633283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Title: </a:t>
            </a:r>
            <a:r>
              <a:rPr lang="en-US" dirty="0"/>
              <a:t>Histogram for Distribution of Transaction Amounts</a:t>
            </a:r>
          </a:p>
          <a:p>
            <a:endParaRPr lang="en-US" b="1" dirty="0"/>
          </a:p>
          <a:p>
            <a:r>
              <a:rPr lang="en-US" b="1" dirty="0"/>
              <a:t>Histogram</a:t>
            </a:r>
            <a:r>
              <a:rPr lang="en-US" dirty="0"/>
              <a:t> of transaction amounts: Helps us understand the distribution of the data and the presence of outliers.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histogram shows the distribution of transaction amounts in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x-axis represents the transaction amounts, and the y-axis represents the frequency of transactions.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histogram also includes a kernel density estimate (KDE) to show the distribution curve.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5792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9FF19-C3F2-679C-DBD3-7035B03DD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8C14E-A159-8460-F697-F229EC1BF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Visualizations </a:t>
            </a:r>
          </a:p>
        </p:txBody>
      </p:sp>
      <p:pic>
        <p:nvPicPr>
          <p:cNvPr id="6" name="Content Placeholder 5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DAA0EB3A-20E5-97AB-71F7-D8E1DC4493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3459" y="2791333"/>
            <a:ext cx="5328479" cy="310197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044A21-9B26-1599-F2E9-DA390F294ABA}"/>
              </a:ext>
            </a:extLst>
          </p:cNvPr>
          <p:cNvSpPr txBox="1"/>
          <p:nvPr/>
        </p:nvSpPr>
        <p:spPr>
          <a:xfrm>
            <a:off x="673443" y="2495660"/>
            <a:ext cx="552994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Title: </a:t>
            </a:r>
            <a:r>
              <a:rPr lang="en-US" dirty="0"/>
              <a:t>Boxplot to Detect Variability and Outliers</a:t>
            </a:r>
          </a:p>
          <a:p>
            <a:endParaRPr lang="en-US" dirty="0"/>
          </a:p>
          <a:p>
            <a:r>
              <a:rPr lang="en-US" dirty="0"/>
              <a:t>The boxplot visualizes the distribution of transaction amounts for both fraudulent (Class 1) and non-fraudulent (Class 0) transactions.</a:t>
            </a:r>
          </a:p>
          <a:p>
            <a:endParaRPr lang="en-US" dirty="0"/>
          </a:p>
          <a:p>
            <a:r>
              <a:rPr lang="en-US" dirty="0"/>
              <a:t>The boxplot helps detect outliers and variability in transaction amounts for each class.</a:t>
            </a:r>
          </a:p>
          <a:p>
            <a:endParaRPr lang="en-US" dirty="0"/>
          </a:p>
          <a:p>
            <a:r>
              <a:rPr lang="en-US" dirty="0"/>
              <a:t>The differences in the interquartile range (IQR) and median between the two classes provide insight into the behavior of fraudulent versus non-fraudulent transactions.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9158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AA22C-EF5D-E142-3FF3-4970FBB34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DEE0E-1104-DC30-09AF-671D5B2AC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Visualizations</a:t>
            </a:r>
            <a:r>
              <a:rPr lang="en-IN" dirty="0"/>
              <a:t> </a:t>
            </a:r>
          </a:p>
        </p:txBody>
      </p:sp>
      <p:pic>
        <p:nvPicPr>
          <p:cNvPr id="7" name="Content Placeholder 6" descr="A graph of blue dots&#10;&#10;Description automatically generated">
            <a:extLst>
              <a:ext uri="{FF2B5EF4-FFF2-40B4-BE49-F238E27FC236}">
                <a16:creationId xmlns:a16="http://schemas.microsoft.com/office/drawing/2014/main" id="{72837449-6A9A-A58A-F8C8-59AABB049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120" y="2693543"/>
            <a:ext cx="5490722" cy="310197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5D457F-5B02-A0F1-E371-D09DB98E7B45}"/>
              </a:ext>
            </a:extLst>
          </p:cNvPr>
          <p:cNvSpPr txBox="1"/>
          <p:nvPr/>
        </p:nvSpPr>
        <p:spPr>
          <a:xfrm>
            <a:off x="419938" y="2536370"/>
            <a:ext cx="552994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Title</a:t>
            </a:r>
            <a:r>
              <a:rPr lang="en-US" dirty="0"/>
              <a:t>: </a:t>
            </a:r>
            <a:r>
              <a:rPr lang="en-US" b="1" dirty="0"/>
              <a:t>Scatter Plot of Time vs. Transaction Amount by Class</a:t>
            </a:r>
          </a:p>
          <a:p>
            <a:endParaRPr lang="en-US" dirty="0"/>
          </a:p>
          <a:p>
            <a:r>
              <a:rPr lang="en-US" dirty="0"/>
              <a:t>This scatter plot visualizes the relationship between the time (in seconds from the first transaction) and the transaction amount.</a:t>
            </a:r>
          </a:p>
          <a:p>
            <a:endParaRPr lang="en-US" dirty="0"/>
          </a:p>
          <a:p>
            <a:r>
              <a:rPr lang="en-US" dirty="0"/>
              <a:t>Different colors represent fraudulent and non-fraudulent (blue) transactions, highlighting how the two classes behave over time.</a:t>
            </a:r>
          </a:p>
          <a:p>
            <a:endParaRPr lang="en-US" dirty="0"/>
          </a:p>
          <a:p>
            <a:r>
              <a:rPr lang="en-US" dirty="0"/>
              <a:t>The plot may show clustering or patterns that can help identify trends in fraudulent behavior.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1624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954FB-1F90-1DDC-2D08-0A5FA6751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0082E-5B24-D7A1-D8B9-DB2FF16B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9739" y="565392"/>
            <a:ext cx="7729728" cy="1188720"/>
          </a:xfrm>
        </p:spPr>
        <p:txBody>
          <a:bodyPr/>
          <a:lstStyle/>
          <a:p>
            <a:r>
              <a:rPr lang="en-IN" b="1" dirty="0"/>
              <a:t>Visualizations</a:t>
            </a:r>
            <a:r>
              <a:rPr lang="en-IN" dirty="0"/>
              <a:t> </a:t>
            </a:r>
          </a:p>
        </p:txBody>
      </p:sp>
      <p:pic>
        <p:nvPicPr>
          <p:cNvPr id="6" name="Content Placeholder 5" descr="A graph showing a number of data&#10;&#10;Description automatically generated with medium confidence">
            <a:extLst>
              <a:ext uri="{FF2B5EF4-FFF2-40B4-BE49-F238E27FC236}">
                <a16:creationId xmlns:a16="http://schemas.microsoft.com/office/drawing/2014/main" id="{40028FDF-55A2-2EE6-B1D9-22A408F083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739" y="4044184"/>
            <a:ext cx="7731125" cy="258398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665894-6AF1-B2F2-3EED-7BF10670F321}"/>
              </a:ext>
            </a:extLst>
          </p:cNvPr>
          <p:cNvSpPr txBox="1"/>
          <p:nvPr/>
        </p:nvSpPr>
        <p:spPr>
          <a:xfrm>
            <a:off x="506627" y="1936653"/>
            <a:ext cx="118933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Title</a:t>
            </a:r>
            <a:r>
              <a:rPr lang="en-US" dirty="0"/>
              <a:t>: </a:t>
            </a:r>
            <a:r>
              <a:rPr lang="en-US" b="1" dirty="0"/>
              <a:t>Interactive Scatter Plot: Time vs Transaction Amount</a:t>
            </a:r>
          </a:p>
          <a:p>
            <a:endParaRPr lang="en-US" b="1" dirty="0"/>
          </a:p>
          <a:p>
            <a:r>
              <a:rPr lang="en-US" dirty="0"/>
              <a:t>This interactive scatter plot provides a dynamic view of the relationship between transaction time and transaction amount.</a:t>
            </a:r>
          </a:p>
          <a:p>
            <a:r>
              <a:rPr lang="en-US" dirty="0"/>
              <a:t>Users can hover over points to see specific data values for individual transactions.</a:t>
            </a:r>
          </a:p>
          <a:p>
            <a:r>
              <a:rPr lang="en-US" dirty="0"/>
              <a:t>Fraudulent transactions are marked in red, and non-fraudulent ones in blue.</a:t>
            </a:r>
          </a:p>
          <a:p>
            <a:r>
              <a:rPr lang="en-US" dirty="0"/>
              <a:t>This type of visualization helps with exploring trends and outliers interactively.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8880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8F0B-3BEE-92D0-94FC-535F8D37B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67598"/>
            <a:ext cx="7729728" cy="1188720"/>
          </a:xfrm>
        </p:spPr>
        <p:txBody>
          <a:bodyPr/>
          <a:lstStyle/>
          <a:p>
            <a:r>
              <a:rPr lang="en-IN" b="1" dirty="0"/>
              <a:t>Machine Learning Models &amp;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FF3FE-5135-DEC7-C21A-32D6F4036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22918"/>
            <a:ext cx="10131425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Model Selection</a:t>
            </a:r>
            <a:r>
              <a:rPr lang="en-IN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We selected several machine learning models for this classification problem:</a:t>
            </a:r>
            <a:endParaRPr lang="en-IN" sz="2000" dirty="0"/>
          </a:p>
          <a:p>
            <a:pPr marL="457200" lvl="1" indent="0">
              <a:buNone/>
            </a:pPr>
            <a:r>
              <a:rPr lang="en-IN" sz="2000" b="1" dirty="0"/>
              <a:t>Logistic Regression</a:t>
            </a:r>
            <a:r>
              <a:rPr lang="en-IN" sz="2000" dirty="0"/>
              <a:t>: A simple model for binary classification (fraudulent vs. non-fraudulent).</a:t>
            </a:r>
          </a:p>
          <a:p>
            <a:pPr marL="457200" lvl="1" indent="0">
              <a:buNone/>
            </a:pPr>
            <a:r>
              <a:rPr lang="en-US" sz="2000" b="1" dirty="0"/>
              <a:t>Decision Tree Classifier</a:t>
            </a:r>
            <a:r>
              <a:rPr lang="en-US" sz="2000" dirty="0"/>
              <a:t>: A non-linear model suitable for capturing complex patterns.</a:t>
            </a:r>
          </a:p>
          <a:p>
            <a:pPr marL="0" indent="0">
              <a:buNone/>
            </a:pPr>
            <a:r>
              <a:rPr lang="en-US" sz="2000" dirty="0"/>
              <a:t>We trained the models on the dataset and evaluated their performance using accuracy, precision, recall, and F1-score.</a:t>
            </a:r>
          </a:p>
          <a:p>
            <a:pPr marL="0" indent="0">
              <a:buNone/>
            </a:pPr>
            <a:endParaRPr lang="en-IN" sz="2000" dirty="0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538D549E-9FA0-EE7D-0D54-B55EF4B36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136" y="4555165"/>
            <a:ext cx="7843708" cy="193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19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1B4DA-B7A6-A0D8-9A48-8847C042F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AE9FE-7DE2-A947-1446-1D8607D6F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6553" y="408638"/>
            <a:ext cx="9124723" cy="1188720"/>
          </a:xfrm>
        </p:spPr>
        <p:txBody>
          <a:bodyPr/>
          <a:lstStyle/>
          <a:p>
            <a:r>
              <a:rPr lang="en-IN" b="1" dirty="0"/>
              <a:t>Machine Learning Models &amp;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0189D-B123-EFD9-6C99-008F7DA0C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201" y="1696526"/>
            <a:ext cx="10131425" cy="3118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Model Evaluation </a:t>
            </a:r>
            <a:r>
              <a:rPr lang="en-IN" sz="2000" dirty="0"/>
              <a:t>:</a:t>
            </a:r>
          </a:p>
          <a:p>
            <a:pPr marL="457200" lvl="1" indent="0">
              <a:buNone/>
            </a:pPr>
            <a:r>
              <a:rPr lang="en-US" sz="1800" b="1" dirty="0"/>
              <a:t>Accuracy</a:t>
            </a:r>
            <a:r>
              <a:rPr lang="en-US" sz="1800" dirty="0"/>
              <a:t>: Fraction of correct predictions.</a:t>
            </a:r>
          </a:p>
          <a:p>
            <a:pPr marL="457200" lvl="1" indent="0">
              <a:buNone/>
            </a:pPr>
            <a:r>
              <a:rPr lang="en-US" sz="1800" b="1" dirty="0"/>
              <a:t>Precision</a:t>
            </a:r>
            <a:r>
              <a:rPr lang="en-US" sz="1800" dirty="0"/>
              <a:t>: Accuracy of positive predictions.</a:t>
            </a:r>
          </a:p>
          <a:p>
            <a:pPr marL="457200" lvl="1" indent="0">
              <a:buNone/>
            </a:pPr>
            <a:r>
              <a:rPr lang="en-US" sz="1800" b="1" dirty="0"/>
              <a:t>Recall</a:t>
            </a:r>
            <a:r>
              <a:rPr lang="en-US" sz="1800" dirty="0"/>
              <a:t>: Coverage of actual positives.</a:t>
            </a:r>
          </a:p>
          <a:p>
            <a:pPr marL="457200" lvl="1" indent="0">
              <a:buNone/>
            </a:pPr>
            <a:r>
              <a:rPr lang="en-US" sz="1800" b="1" dirty="0"/>
              <a:t>F1 Score</a:t>
            </a:r>
            <a:r>
              <a:rPr lang="en-US" sz="1800" dirty="0"/>
              <a:t>: Harmonic mean of precision and recall.</a:t>
            </a:r>
          </a:p>
          <a:p>
            <a:pPr marL="457200" lvl="1" indent="0">
              <a:buNone/>
            </a:pPr>
            <a:r>
              <a:rPr lang="en-IN" sz="1800" b="1" dirty="0"/>
              <a:t>Confusion Matrix</a:t>
            </a:r>
            <a:r>
              <a:rPr lang="en-IN" sz="1800" dirty="0"/>
              <a:t>: Visual representation of classification performance.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C928AE1D-B21F-6060-BDF5-91B70A25B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628" y="4255910"/>
            <a:ext cx="4572235" cy="2425825"/>
          </a:xfrm>
          <a:prstGeom prst="rect">
            <a:avLst/>
          </a:prstGeom>
        </p:spPr>
      </p:pic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1249CC21-0F36-0707-7EF7-271A398CA1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513" y="4247118"/>
            <a:ext cx="4134062" cy="242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1437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58BD1-49A5-05B3-F3C8-3971FBF8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4AA79-A279-2C0E-9666-64ACDA692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507692"/>
            <a:ext cx="10131425" cy="1456267"/>
          </a:xfrm>
        </p:spPr>
        <p:txBody>
          <a:bodyPr/>
          <a:lstStyle/>
          <a:p>
            <a:r>
              <a:rPr lang="en-IN" b="1" dirty="0"/>
              <a:t>Machine Learning Models &amp;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C8025-1E64-DDA6-03BE-0A8CF8E7D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87" y="2479097"/>
            <a:ext cx="10131425" cy="31187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also performed </a:t>
            </a:r>
            <a:r>
              <a:rPr lang="en-US" b="1" dirty="0"/>
              <a:t>cross-validation</a:t>
            </a:r>
            <a:r>
              <a:rPr lang="en-US" dirty="0"/>
              <a:t> to ensure that our models generalize well to unseen data.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IN" b="1" dirty="0"/>
              <a:t>Cross-Validation</a:t>
            </a:r>
            <a:r>
              <a:rPr lang="en-IN" dirty="0"/>
              <a:t>: Used </a:t>
            </a:r>
            <a:r>
              <a:rPr lang="en-IN" b="1" dirty="0" err="1"/>
              <a:t>cross_val_score</a:t>
            </a:r>
            <a:r>
              <a:rPr lang="en-IN" b="1" dirty="0"/>
              <a:t>  </a:t>
            </a:r>
            <a:r>
              <a:rPr lang="en-US" dirty="0"/>
              <a:t>to calculate the mean accuracy across 5 folds for both models.</a:t>
            </a:r>
            <a:endParaRPr lang="en-IN" sz="1800" dirty="0"/>
          </a:p>
        </p:txBody>
      </p:sp>
      <p:pic>
        <p:nvPicPr>
          <p:cNvPr id="7" name="Picture 6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E90F3499-F53B-F65A-9323-58785711EA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1715" y="4378903"/>
            <a:ext cx="8270545" cy="1734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822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EF667-0179-F7E6-EA73-BC497BB8B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58048"/>
            <a:ext cx="7729728" cy="1188720"/>
          </a:xfrm>
        </p:spPr>
        <p:txBody>
          <a:bodyPr>
            <a:normAutofit/>
          </a:bodyPr>
          <a:lstStyle/>
          <a:p>
            <a:r>
              <a:rPr lang="en-IN" b="1" dirty="0"/>
              <a:t>Insights &amp;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33F7D-1FF0-F3A6-B354-37A0D678A2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730" y="1759008"/>
            <a:ext cx="11333601" cy="43578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b="1" dirty="0"/>
              <a:t>Insights</a:t>
            </a:r>
            <a:r>
              <a:rPr lang="en-IN" dirty="0"/>
              <a:t>:</a:t>
            </a:r>
          </a:p>
          <a:p>
            <a:r>
              <a:rPr lang="en-US" dirty="0"/>
              <a:t>The transaction amount and time were found to be the most significant features for predicting fraudulent transactions.</a:t>
            </a:r>
            <a:endParaRPr lang="en-IN" dirty="0"/>
          </a:p>
          <a:p>
            <a:r>
              <a:rPr lang="en-US" b="1" dirty="0"/>
              <a:t>PCA</a:t>
            </a:r>
            <a:r>
              <a:rPr lang="en-US" dirty="0"/>
              <a:t> helped in reducing the complexity of the data without losing critical information, which resulted in more efficient model training.</a:t>
            </a:r>
            <a:endParaRPr lang="en-IN" dirty="0"/>
          </a:p>
          <a:p>
            <a:r>
              <a:rPr lang="en-US" dirty="0"/>
              <a:t>The models showed varying results in terms of accuracy and recall. While the decision tree achieved high accuracy, the KNN model demonstrated better performance in detecting fraudulent transactions (higher recall).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Challenges</a:t>
            </a:r>
            <a:r>
              <a:rPr lang="en-IN" dirty="0"/>
              <a:t>:</a:t>
            </a:r>
            <a:endParaRPr lang="en-US" dirty="0"/>
          </a:p>
          <a:p>
            <a:r>
              <a:rPr lang="en-US" dirty="0"/>
              <a:t>One of the primary challenges was dealing with the </a:t>
            </a:r>
            <a:r>
              <a:rPr lang="en-US" b="1" dirty="0"/>
              <a:t>imbalanced dataset</a:t>
            </a:r>
            <a:r>
              <a:rPr lang="en-US" dirty="0"/>
              <a:t>, where fraudulent transactions were rare compared to legitimate ones. We addressed this with techniques like </a:t>
            </a:r>
            <a:r>
              <a:rPr lang="en-US" b="1" dirty="0"/>
              <a:t>oversampling</a:t>
            </a:r>
            <a:r>
              <a:rPr lang="en-US" dirty="0"/>
              <a:t> and </a:t>
            </a:r>
            <a:r>
              <a:rPr lang="en-US" b="1" dirty="0"/>
              <a:t>precision-recall curves</a:t>
            </a:r>
            <a:r>
              <a:rPr lang="en-US" dirty="0"/>
              <a:t> to improve model performance on the minority class (fraudulent transactions).</a:t>
            </a:r>
          </a:p>
          <a:p>
            <a:r>
              <a:rPr lang="en-US" dirty="0"/>
              <a:t>Another challenge was ensuring that our models didn’t overfit to the majority class (non-fraudulent transactions), which we tackled through cross-validation and hyperparameter tuning.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6569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4D0E-B193-5A9B-93DE-065737A66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Future 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2BEF2-6FC8-E613-77BE-A6208D44C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557" y="2638044"/>
            <a:ext cx="11380573" cy="3441480"/>
          </a:xfrm>
        </p:spPr>
        <p:txBody>
          <a:bodyPr>
            <a:normAutofit/>
          </a:bodyPr>
          <a:lstStyle/>
          <a:p>
            <a:r>
              <a:rPr lang="en-IN" sz="2000" b="1" dirty="0"/>
              <a:t>Advanced Models</a:t>
            </a:r>
            <a:r>
              <a:rPr lang="en-IN" sz="2000" dirty="0"/>
              <a:t>: </a:t>
            </a:r>
            <a:r>
              <a:rPr lang="en-US" sz="2000" dirty="0"/>
              <a:t>We plan to implement </a:t>
            </a:r>
            <a:r>
              <a:rPr lang="en-US" sz="2000" b="1" dirty="0"/>
              <a:t>Neural Networks</a:t>
            </a:r>
            <a:r>
              <a:rPr lang="en-US" sz="2000" dirty="0"/>
              <a:t> or </a:t>
            </a:r>
            <a:r>
              <a:rPr lang="en-US" sz="2000" b="1" dirty="0"/>
              <a:t>Ensemble Methods</a:t>
            </a:r>
            <a:r>
              <a:rPr lang="en-US" sz="2000" dirty="0"/>
              <a:t> (like Random Forests) to improve model performance.</a:t>
            </a:r>
          </a:p>
          <a:p>
            <a:endParaRPr lang="en-US" sz="2000" dirty="0"/>
          </a:p>
          <a:p>
            <a:r>
              <a:rPr lang="en-US" sz="2000" b="1" dirty="0"/>
              <a:t>Anomaly Detection</a:t>
            </a:r>
            <a:r>
              <a:rPr lang="en-US" sz="2000" dirty="0"/>
              <a:t>: Exploring unsupervised anomaly detection methods could be valuable for identifying fraudulent transactions in real-time.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Data Augmentation</a:t>
            </a:r>
            <a:r>
              <a:rPr lang="en-US" sz="2000" dirty="0"/>
              <a:t>: By collecting more transaction data and including different types of transactions (e.g., international transactions), we could improve the model's generalizability.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79427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EC4D0-1E88-83F1-0F60-0FFD2F1DE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0287" y="2611395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IN" sz="7200" dirty="0">
                <a:latin typeface="+mn-lt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E4935-6760-63EF-F4FC-C2D0590F1158}"/>
              </a:ext>
            </a:extLst>
          </p:cNvPr>
          <p:cNvSpPr txBox="1"/>
          <p:nvPr/>
        </p:nvSpPr>
        <p:spPr>
          <a:xfrm>
            <a:off x="8610109" y="4825323"/>
            <a:ext cx="346562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u="sng" dirty="0"/>
              <a:t>Presented by: </a:t>
            </a:r>
          </a:p>
          <a:p>
            <a:r>
              <a:rPr lang="en-US" sz="2000" dirty="0" err="1"/>
              <a:t>Srija</a:t>
            </a:r>
            <a:r>
              <a:rPr lang="en-US" sz="2000" dirty="0"/>
              <a:t> </a:t>
            </a:r>
            <a:r>
              <a:rPr lang="en-US" sz="2000" dirty="0" err="1"/>
              <a:t>Gunaganti</a:t>
            </a:r>
            <a:endParaRPr lang="en-US" sz="2000" dirty="0"/>
          </a:p>
          <a:p>
            <a:r>
              <a:rPr lang="en-US" sz="2000" dirty="0"/>
              <a:t>Naga </a:t>
            </a:r>
            <a:r>
              <a:rPr lang="en-US" sz="2000" dirty="0" err="1"/>
              <a:t>Avinash</a:t>
            </a:r>
            <a:r>
              <a:rPr lang="en-US" sz="2000" dirty="0"/>
              <a:t> Matta</a:t>
            </a:r>
          </a:p>
          <a:p>
            <a:r>
              <a:rPr lang="en-US" sz="2000" dirty="0"/>
              <a:t>Venkata </a:t>
            </a:r>
            <a:r>
              <a:rPr lang="en-US" sz="2000" dirty="0" err="1"/>
              <a:t>Sahith</a:t>
            </a:r>
            <a:r>
              <a:rPr lang="en-US" sz="2000" dirty="0"/>
              <a:t> </a:t>
            </a:r>
            <a:r>
              <a:rPr lang="en-US" sz="2000" dirty="0" err="1"/>
              <a:t>Thiruckovalluru</a:t>
            </a:r>
            <a:endParaRPr lang="en-US" sz="2000" dirty="0"/>
          </a:p>
          <a:p>
            <a:r>
              <a:rPr lang="en-US" sz="2000" dirty="0" err="1"/>
              <a:t>Yeshwanth</a:t>
            </a:r>
            <a:r>
              <a:rPr lang="en-US" sz="2000" dirty="0"/>
              <a:t> </a:t>
            </a:r>
            <a:r>
              <a:rPr lang="en-US" sz="2000" dirty="0" err="1"/>
              <a:t>Gujjalapati</a:t>
            </a: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1592263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{40B096E2-4CAB-D747-A80D-4D3EDF5C24A9}tf10001120</Template>
  <TotalTime>548</TotalTime>
  <Words>1249</Words>
  <Application>Microsoft Macintosh PowerPoint</Application>
  <PresentationFormat>Widescreen</PresentationFormat>
  <Paragraphs>127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Abadi</vt:lpstr>
      <vt:lpstr>Arial</vt:lpstr>
      <vt:lpstr>Calibri</vt:lpstr>
      <vt:lpstr>Gill Sans MT</vt:lpstr>
      <vt:lpstr>Times New Roman</vt:lpstr>
      <vt:lpstr>Parcel</vt:lpstr>
      <vt:lpstr>Credit Card Fraud Detection </vt:lpstr>
      <vt:lpstr>Agenda</vt:lpstr>
      <vt:lpstr>Problem Statement</vt:lpstr>
      <vt:lpstr>Data Overview</vt:lpstr>
      <vt:lpstr>Data Overview</vt:lpstr>
      <vt:lpstr>Central Tendency &amp; Data Reduction</vt:lpstr>
      <vt:lpstr>Data Reduction</vt:lpstr>
      <vt:lpstr>Descriptive Statistics</vt:lpstr>
      <vt:lpstr>Visualizations </vt:lpstr>
      <vt:lpstr>Visualizations </vt:lpstr>
      <vt:lpstr>Visualizations </vt:lpstr>
      <vt:lpstr>Visualizations </vt:lpstr>
      <vt:lpstr>Machine Learning Models &amp; Predictions</vt:lpstr>
      <vt:lpstr>Machine Learning Models &amp; Predictions</vt:lpstr>
      <vt:lpstr>Machine Learning Models &amp; Predictions</vt:lpstr>
      <vt:lpstr>Insights &amp; Challenges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"Data Science and Machine Learning in Action: A Comprehensive Approach Using Real-World Data“</dc:title>
  <dc:creator>Matta, Naga Avinash</dc:creator>
  <cp:lastModifiedBy>Srija Gunaganti</cp:lastModifiedBy>
  <cp:revision>19</cp:revision>
  <dcterms:created xsi:type="dcterms:W3CDTF">2024-12-06T08:19:19Z</dcterms:created>
  <dcterms:modified xsi:type="dcterms:W3CDTF">2024-12-06T23:44:51Z</dcterms:modified>
</cp:coreProperties>
</file>